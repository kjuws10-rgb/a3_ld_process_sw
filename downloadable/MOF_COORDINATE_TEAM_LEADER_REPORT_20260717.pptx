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\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

</file>

<file path=docProps\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</PresentationFormat>
  <Slides>21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MOF 좌표 변환 팀장 보고 자료</dc:title>
  <dc:creator>Codex</dc:creator>
  <cp:lastModifiedBy>Codex</cp:lastModifiedBy>
  <dcterms:created xsi:type="dcterms:W3CDTF">2026-07-17T00:00:00Z</dcterms:created>
  <dcterms:modified xsi:type="dcterms:W3CDTF">2026-07-17T00:00:00Z</dcterms:modified>
</cp:coreProperties>
</file>

<file path=ppt\_rels\presentation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slide" Target="slides/slide19.xml"/>
  <Relationship Id="rId21" Type="http://schemas.openxmlformats.org/officeDocument/2006/relationships/slide" Target="slides/slide20.xml"/>
  <Relationship Id="rId22" Type="http://schemas.openxmlformats.org/officeDocument/2006/relationships/slide" Target="slides/slide21.xml"/>
</Relationships>
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 type="wide"/>
  <p:notesSz cx="6858000" cy="9144000"/>
</p:presentation>
</file>

<file path=ppt\slideLayouts\_rels\slideLayout1.xml.rels>&#65279;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&#65279;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
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\slides\_rels\slide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2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2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MOF 좌표 변환 개념 보고 자료</a:t>
            </a:r>
          </a:p>
        </p:txBody>
      </p:sp>
      <p:sp>
        <p:nvSpPr>
          <p:cNvPr id="2" name="Shape 2"/>
          <p:cNvSpPr/>
          <p:nvPr/>
        </p:nvSpPr>
        <p:spPr>
          <a:xfrm>
            <a:off x="594360" y="960120"/>
            <a:ext cx="5212080" cy="123444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700" b="1">
                <a:solidFill>
                  <a:srgbClr val="E0FCFF"/>
                </a:solidFill>
              </a:rPr>
              <a:t>보고 목적</a:t>
            </a:r>
          </a:p>
          <a:p>
            <a:r>
              <a:rPr lang="ko-KR" sz="1700" b="1">
                <a:solidFill>
                  <a:srgbClr val="E0FCFF"/>
                </a:solidFill>
              </a:rPr>
              <a:t>리뷰 카메라가 본 AK1 위치를 기준으로 전체 기판의 가공 좌표를 만들고, 어떤 Scanner가 어디를 가공할지 설명합니다.</a:t>
            </a:r>
          </a:p>
        </p:txBody>
      </p:sp>
      <p:sp>
        <p:nvSpPr>
          <p:cNvPr id="3" name="Shape 3"/>
          <p:cNvSpPr/>
          <p:nvPr/>
        </p:nvSpPr>
        <p:spPr>
          <a:xfrm>
            <a:off x="6172200" y="960120"/>
            <a:ext cx="5394960" cy="123444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 b="1">
                <a:solidFill>
                  <a:srgbClr val="EAF2FF"/>
                </a:solidFill>
              </a:rPr>
              <a:t>핵심 결론</a:t>
            </a:r>
          </a:p>
          <a:p>
            <a:r>
              <a:rPr lang="ko-KR" sz="1700" b="1">
                <a:solidFill>
                  <a:srgbClr val="EAF2FF"/>
                </a:solidFill>
              </a:rPr>
              <a:t>AK1 한 점을 정확히 잡으면 Recipe Cell 좌표 → Stage 좌표 → Scanner Gx/Gy → Review 좌표까지 한 흐름으로 연결됩니다.</a:t>
            </a:r>
          </a:p>
        </p:txBody>
      </p:sp>
      <p:sp>
        <p:nvSpPr>
          <p:cNvPr id="4" name="Shape 4"/>
          <p:cNvSpPr/>
          <p:nvPr/>
        </p:nvSpPr>
        <p:spPr>
          <a:xfrm>
            <a:off x="594360" y="2514600"/>
            <a:ext cx="10972800" cy="2514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아주 쉽게 말하면</a:t>
            </a:r>
          </a:p>
          <a:p>
            <a:r>
              <a:rPr lang="ko-KR" sz="1800">
                <a:solidFill>
                  <a:srgbClr val="E5E7EB"/>
                </a:solidFill>
              </a:rPr>
              <a:t>• 기판 위에 있는 작은 구멍들의 위치를 '지도 좌표'로 만든다.</a:t>
            </a:r>
          </a:p>
          <a:p>
            <a:r>
              <a:rPr lang="ko-KR" sz="1800">
                <a:solidFill>
                  <a:srgbClr val="E5E7EB"/>
                </a:solidFill>
              </a:rPr>
              <a:t>• 리뷰 카메라는 기판이 실제로 어디에 놓였는지 확인하는 눈 역할을 한다.</a:t>
            </a:r>
          </a:p>
          <a:p>
            <a:r>
              <a:rPr lang="ko-KR" sz="1800">
                <a:solidFill>
                  <a:srgbClr val="E5E7EB"/>
                </a:solidFill>
              </a:rPr>
              <a:t>• Stage 좌표는 장비 전체가 공통으로 쓰는 실제 위치 주소이다.</a:t>
            </a:r>
          </a:p>
          <a:p>
            <a:r>
              <a:rPr lang="ko-KR" sz="1800">
                <a:solidFill>
                  <a:srgbClr val="E5E7EB"/>
                </a:solidFill>
              </a:rPr>
              <a:t>• Scanner는 고정된 가공 헤드이고, 기판이 그 위를 지나가며 가공된다.</a:t>
            </a:r>
          </a:p>
          <a:p>
            <a:r>
              <a:rPr lang="ko-KR" sz="1800">
                <a:solidFill>
                  <a:srgbClr val="E5E7EB"/>
                </a:solidFill>
              </a:rPr>
              <a:t>• 프로그램은 모든 구멍에 대해 '어느 Scanner가, 어떤 Gx/Gy 명령으로 가공할지' 계산한다.</a:t>
            </a:r>
          </a:p>
        </p:txBody>
      </p:sp>
      <p:sp>
        <p:nvSpPr>
          <p:cNvPr id="5" name="Shape 5"/>
          <p:cNvSpPr/>
          <p:nvPr/>
        </p:nvSpPr>
        <p:spPr>
          <a:xfrm>
            <a:off x="594360" y="5349240"/>
            <a:ext cx="10972800" cy="68580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500" b="1">
                <a:solidFill>
                  <a:srgbClr val="FDEBC8"/>
                </a:solidFill>
              </a:rPr>
              <a:t>보고 대상: 팀장님 설명용 / 비전공자도 이해할 수 있도록 용어를 최대한 풀어서 작성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1. 우리가 풀고 싶은 문제</a:t>
            </a:r>
          </a:p>
        </p:txBody>
      </p:sp>
      <p:sp>
        <p:nvSpPr>
          <p:cNvPr id="6" name="Shape 6"/>
          <p:cNvSpPr/>
          <p:nvPr/>
        </p:nvSpPr>
        <p:spPr>
          <a:xfrm>
            <a:off x="502920" y="868680"/>
            <a:ext cx="365760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문제 상황</a:t>
            </a:r>
          </a:p>
          <a:p>
            <a:r>
              <a:rPr lang="ko-KR" sz="1600">
                <a:solidFill>
                  <a:srgbClr val="E5E7EB"/>
                </a:solidFill>
              </a:rPr>
              <a:t>• Recipe에는 '기판 안에서 구멍이 어디에 있어야 하는지'만 들어있습니다.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하지만 장비는 Stage 좌표와 Scanner 좌표로 움직입니다.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기판은 매번 완벽히 같은 자리에 놓이지 않습니다.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그래서 실제로 놓인 기판 위치를 기준으로 모든 좌표를 다시 계산해야 합니다.</a:t>
            </a:r>
          </a:p>
        </p:txBody>
      </p:sp>
      <p:sp>
        <p:nvSpPr>
          <p:cNvPr id="7" name="Shape 7"/>
          <p:cNvSpPr/>
          <p:nvPr/>
        </p:nvSpPr>
        <p:spPr>
          <a:xfrm>
            <a:off x="4434840" y="868680"/>
            <a:ext cx="3657600" cy="4480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0FCFF"/>
                </a:solidFill>
              </a:rPr>
              <a:t>필요한 변환</a:t>
            </a:r>
          </a:p>
          <a:p>
            <a:r>
              <a:rPr lang="ko-KR" sz="1600">
                <a:solidFill>
                  <a:srgbClr val="E0FCFF"/>
                </a:solidFill>
              </a:rPr>
              <a:t>1) Review Camera가 AK1을 측정한다.</a:t>
            </a:r>
          </a:p>
          <a:p>
            <a:r>
              <a:rPr lang="ko-KR" sz="1600">
                <a:solidFill>
                  <a:srgbClr val="E0FCFF"/>
                </a:solidFill>
              </a:rPr>
              <a:t>2) AK1을 Stage 좌표로 바꾼다.</a:t>
            </a:r>
          </a:p>
          <a:p>
            <a:r>
              <a:rPr lang="ko-KR" sz="1600">
                <a:solidFill>
                  <a:srgbClr val="E0FCFF"/>
                </a:solidFill>
              </a:rPr>
              <a:t>3) Recipe Cell 좌표를 Stage 좌표로 바꾼다.</a:t>
            </a:r>
          </a:p>
          <a:p>
            <a:r>
              <a:rPr lang="ko-KR" sz="1600">
                <a:solidFill>
                  <a:srgbClr val="E0FCFF"/>
                </a:solidFill>
              </a:rPr>
              <a:t>4) 각 Scanner가 커버 가능한 X 범위를 판단한다.</a:t>
            </a:r>
          </a:p>
          <a:p>
            <a:r>
              <a:rPr lang="ko-KR" sz="1600">
                <a:solidFill>
                  <a:srgbClr val="E0FCFF"/>
                </a:solidFill>
              </a:rPr>
              <a:t>5) Scanner 내부 명령 Gx/Gy로 바꾼다.</a:t>
            </a:r>
          </a:p>
          <a:p>
            <a:r>
              <a:rPr lang="ko-KR" sz="1600">
                <a:solidFill>
                  <a:srgbClr val="E0FCFF"/>
                </a:solidFill>
              </a:rPr>
              <a:t>6) Review 측정 결과로 Offset 보정까지 이어간다.</a:t>
            </a:r>
          </a:p>
        </p:txBody>
      </p:sp>
      <p:sp>
        <p:nvSpPr>
          <p:cNvPr id="8" name="Shape 8"/>
          <p:cNvSpPr/>
          <p:nvPr/>
        </p:nvSpPr>
        <p:spPr>
          <a:xfrm>
            <a:off x="8366760" y="868680"/>
            <a:ext cx="3291840" cy="448056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800" b="1">
                <a:solidFill>
                  <a:srgbClr val="F3F8FF"/>
                </a:solidFill>
              </a:rPr>
              <a:t>한 문장 요약</a:t>
            </a:r>
          </a:p>
          <a:p>
            <a:r>
              <a:rPr lang="ko-KR" sz="1800" b="1">
                <a:solidFill>
                  <a:srgbClr val="F3F8FF"/>
                </a:solidFill>
              </a:rPr>
              <a:t>기판의 실제 위치를 먼저 찾고, 그 위치를 기준으로 모든 Cell의 가공 좌표를 장비가 이해하는 좌표로 번역하는 작업입니다.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2. 좌표계를 지도에 비유해서 이해하기</a:t>
            </a:r>
          </a:p>
        </p:txBody>
      </p:sp>
      <p:sp>
        <p:nvSpPr>
          <p:cNvPr id="9" name="Shape 9"/>
          <p:cNvSpPr/>
          <p:nvPr/>
        </p:nvSpPr>
        <p:spPr>
          <a:xfrm>
            <a:off x="502920" y="914400"/>
            <a:ext cx="2743200" cy="443484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Recipe Local 좌표</a:t>
            </a:r>
          </a:p>
          <a:p>
            <a:r>
              <a:rPr lang="ko-KR" sz="1600">
                <a:solidFill>
                  <a:srgbClr val="E5E7EB"/>
                </a:solidFill>
              </a:rPr>
              <a:t>제품 설계 도면 안의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예: 'AK1에서 오른쪽으로 50mm, 아래로 35mm 떨어진 곳'</a:t>
            </a:r>
          </a:p>
        </p:txBody>
      </p:sp>
      <p:sp>
        <p:nvSpPr>
          <p:cNvPr id="10" name="Shape 10"/>
          <p:cNvSpPr/>
          <p:nvPr/>
        </p:nvSpPr>
        <p:spPr>
          <a:xfrm>
            <a:off x="3520440" y="914400"/>
            <a:ext cx="2743200" cy="443484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Review Pixel 좌표</a:t>
            </a:r>
          </a:p>
          <a:p>
            <a:r>
              <a:rPr lang="ko-KR" sz="1600">
                <a:solidFill>
                  <a:srgbClr val="E5E7EB"/>
                </a:solidFill>
              </a:rPr>
              <a:t>카메라 사진 속의 픽셀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예: 사진에서 AK1이 U=1282, V=1053 위치에 보인다.</a:t>
            </a:r>
          </a:p>
        </p:txBody>
      </p:sp>
      <p:sp>
        <p:nvSpPr>
          <p:cNvPr id="11" name="Shape 11"/>
          <p:cNvSpPr/>
          <p:nvPr/>
        </p:nvSpPr>
        <p:spPr>
          <a:xfrm>
            <a:off x="6537960" y="914400"/>
            <a:ext cx="2743200" cy="443484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Stage Global 좌표</a:t>
            </a:r>
          </a:p>
          <a:p>
            <a:r>
              <a:rPr lang="ko-KR" sz="1600">
                <a:solidFill>
                  <a:srgbClr val="E5E7EB"/>
                </a:solidFill>
              </a:rPr>
              <a:t>장비 전체가 같이 쓰는 실제 위치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예: Stage 기준 X=105.2001mm, Y=1200.10005mm</a:t>
            </a:r>
          </a:p>
        </p:txBody>
      </p:sp>
      <p:sp>
        <p:nvSpPr>
          <p:cNvPr id="12" name="Shape 12"/>
          <p:cNvSpPr/>
          <p:nvPr/>
        </p:nvSpPr>
        <p:spPr>
          <a:xfrm>
            <a:off x="9555480" y="914400"/>
            <a:ext cx="2148840" cy="443484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Scanner 좌표</a:t>
            </a:r>
          </a:p>
          <a:p>
            <a:r>
              <a:rPr lang="ko-KR" sz="1600">
                <a:solidFill>
                  <a:srgbClr val="E5E7EB"/>
                </a:solidFill>
              </a:rPr>
              <a:t>각 Scanner 헤드가 자기 중심을 기준으로 보는 상대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최종 Gx/Gy 명령의 기준입니다.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3. 전체 흐름 한 장 요약</a:t>
            </a:r>
          </a:p>
        </p:txBody>
      </p:sp>
      <p:sp>
        <p:nvSpPr>
          <p:cNvPr id="13" name="Shape 13"/>
          <p:cNvSpPr/>
          <p:nvPr/>
        </p:nvSpPr>
        <p:spPr>
          <a:xfrm>
            <a:off x="411480" y="896112"/>
            <a:ext cx="1783080" cy="8686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Review AK1 측정</a:t>
            </a:r>
          </a:p>
          <a:p>
            <a:r>
              <a:rPr lang="ko-KR" sz="1300">
                <a:solidFill>
                  <a:srgbClr val="E5E7EB"/>
                </a:solidFill>
              </a:rPr>
              <a:t>카메라로 기준점 확인</a:t>
            </a:r>
          </a:p>
        </p:txBody>
      </p:sp>
      <p:sp>
        <p:nvSpPr>
          <p:cNvPr id="14" name="Shape 14"/>
          <p:cNvSpPr/>
          <p:nvPr/>
        </p:nvSpPr>
        <p:spPr>
          <a:xfrm>
            <a:off x="221284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5" name="Shape 15"/>
          <p:cNvSpPr/>
          <p:nvPr/>
        </p:nvSpPr>
        <p:spPr>
          <a:xfrm>
            <a:off x="2743200" y="896112"/>
            <a:ext cx="1783080" cy="8686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AK1 Stage 생성</a:t>
            </a:r>
          </a:p>
          <a:p>
            <a:r>
              <a:rPr lang="ko-KR" sz="1300">
                <a:solidFill>
                  <a:srgbClr val="E5E7EB"/>
                </a:solidFill>
              </a:rPr>
              <a:t>실제 기판 기준점</a:t>
            </a:r>
          </a:p>
        </p:txBody>
      </p:sp>
      <p:sp>
        <p:nvSpPr>
          <p:cNvPr id="16" name="Shape 16"/>
          <p:cNvSpPr/>
          <p:nvPr/>
        </p:nvSpPr>
        <p:spPr>
          <a:xfrm>
            <a:off x="454456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Shape 17"/>
          <p:cNvSpPr/>
          <p:nvPr/>
        </p:nvSpPr>
        <p:spPr>
          <a:xfrm>
            <a:off x="5074920" y="896112"/>
            <a:ext cx="1783080" cy="8686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Cell 좌표 생성</a:t>
            </a:r>
          </a:p>
          <a:p>
            <a:r>
              <a:rPr lang="ko-KR" sz="1300">
                <a:solidFill>
                  <a:srgbClr val="E5E7EB"/>
                </a:solidFill>
              </a:rPr>
              <a:t>모든 구멍 위치</a:t>
            </a:r>
          </a:p>
        </p:txBody>
      </p:sp>
      <p:sp>
        <p:nvSpPr>
          <p:cNvPr id="18" name="Shape 18"/>
          <p:cNvSpPr/>
          <p:nvPr/>
        </p:nvSpPr>
        <p:spPr>
          <a:xfrm>
            <a:off x="687628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Shape 19"/>
          <p:cNvSpPr/>
          <p:nvPr/>
        </p:nvSpPr>
        <p:spPr>
          <a:xfrm>
            <a:off x="7406640" y="896112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Stage 좌표 변환</a:t>
            </a:r>
          </a:p>
          <a:p>
            <a:r>
              <a:rPr lang="ko-KR" sz="1300">
                <a:solidFill>
                  <a:srgbClr val="E5E7EB"/>
                </a:solidFill>
              </a:rPr>
              <a:t>장비 기준 위치</a:t>
            </a:r>
          </a:p>
        </p:txBody>
      </p:sp>
      <p:sp>
        <p:nvSpPr>
          <p:cNvPr id="20" name="Shape 20"/>
          <p:cNvSpPr/>
          <p:nvPr/>
        </p:nvSpPr>
        <p:spPr>
          <a:xfrm>
            <a:off x="920800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1" name="Shape 21"/>
          <p:cNvSpPr/>
          <p:nvPr/>
        </p:nvSpPr>
        <p:spPr>
          <a:xfrm>
            <a:off x="9738360" y="896112"/>
            <a:ext cx="1783080" cy="86868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Scanner 판단</a:t>
            </a:r>
          </a:p>
          <a:p>
            <a:r>
              <a:rPr lang="ko-KR" sz="1300">
                <a:solidFill>
                  <a:srgbClr val="E5E7EB"/>
                </a:solidFill>
              </a:rPr>
              <a:t>가공 가능 Head</a:t>
            </a:r>
          </a:p>
        </p:txBody>
      </p:sp>
      <p:sp>
        <p:nvSpPr>
          <p:cNvPr id="22" name="Shape 22"/>
          <p:cNvSpPr/>
          <p:nvPr/>
        </p:nvSpPr>
        <p:spPr>
          <a:xfrm>
            <a:off x="640080" y="2240280"/>
            <a:ext cx="2834640" cy="2651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가장 중요한 기준</a:t>
            </a:r>
          </a:p>
          <a:p>
            <a:r>
              <a:rPr lang="ko-KR" sz="1600">
                <a:solidFill>
                  <a:srgbClr val="E5E7EB"/>
                </a:solidFill>
              </a:rPr>
              <a:t>• AK1은 전체 좌표의 원점처럼 쓰입니다.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AK1을 잘못 잡으면 전체 Cell 좌표가 같이 밀립니다.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그래서 Review Camera 측정값이 좌표 변환의 출발점입니다.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3703320" y="2240280"/>
            <a:ext cx="2834640" cy="2651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Scanner 선택 기준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Scanner는 지그재그로 고정되어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기판은 Y 방향으로 지나갑니다.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따라서 X 방향으로 Scanner가 닿는 범위인지가 핵심입니다.</a:t>
            </a:r>
          </a:p>
        </p:txBody>
      </p:sp>
      <p:sp>
        <p:nvSpPr>
          <p:cNvPr id="24" name="Shape 24"/>
          <p:cNvSpPr/>
          <p:nvPr/>
        </p:nvSpPr>
        <p:spPr>
          <a:xfrm>
            <a:off x="6766560" y="2240280"/>
            <a:ext cx="2834640" cy="2651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최종 결과</a:t>
            </a:r>
          </a:p>
          <a:p>
            <a:r>
              <a:rPr lang="ko-KR" sz="1600">
                <a:solidFill>
                  <a:srgbClr val="E5E7EB"/>
                </a:solidFill>
              </a:rPr>
              <a:t>• 각 Cell의 Design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실제 Process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Gx/Gy 명령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좌표계 결과</a:t>
            </a:r>
          </a:p>
        </p:txBody>
      </p:sp>
      <p:sp>
        <p:nvSpPr>
          <p:cNvPr id="25" name="Shape 25"/>
          <p:cNvSpPr/>
          <p:nvPr/>
        </p:nvSpPr>
        <p:spPr>
          <a:xfrm>
            <a:off x="9829800" y="2240280"/>
            <a:ext cx="1874520" cy="265176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보정까지 연결</a:t>
            </a:r>
          </a:p>
          <a:p>
            <a:r>
              <a:rPr lang="ko-KR" sz="1600">
                <a:solidFill>
                  <a:srgbClr val="E5E7EB"/>
                </a:solidFill>
              </a:rPr>
              <a:t>Review 측정 오차를 Offset으로 만들고 다음 Process Plan에 반영합니다.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4. 입력 데이터는 다섯 묶음으로 보면 쉽다</a:t>
            </a:r>
          </a:p>
        </p:txBody>
      </p:sp>
      <p:sp>
        <p:nvSpPr>
          <p:cNvPr id="26" name="Shape 26"/>
          <p:cNvSpPr/>
          <p:nvPr/>
        </p:nvSpPr>
        <p:spPr>
          <a:xfrm>
            <a:off x="502920" y="868680"/>
            <a:ext cx="2148840" cy="45262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① Recipe / Cell</a:t>
            </a:r>
          </a:p>
          <a:p>
            <a:r>
              <a:rPr lang="ko-KR" sz="1400">
                <a:solidFill>
                  <a:srgbClr val="E5E7EB"/>
                </a:solidFill>
              </a:rPr>
              <a:t>• 첫 가공점 위치</a:t>
            </a:r>
          </a:p>
          <a:p>
            <a:r>
              <a:rPr lang="ko-KR" sz="1400">
                <a:solidFill>
                  <a:srgbClr val="E5E7EB"/>
                </a:solidFill>
              </a:rPr>
              <a:t>• X/Y Pitch</a:t>
            </a:r>
          </a:p>
          <a:p>
            <a:r>
              <a:rPr lang="ko-KR" sz="1400">
                <a:solidFill>
                  <a:srgbClr val="E5E7EB"/>
                </a:solidFill>
              </a:rPr>
              <a:t>• 행/열 개수</a:t>
            </a:r>
          </a:p>
          <a:p>
            <a:r>
              <a:rPr lang="ko-KR" sz="1400">
                <a:solidFill>
                  <a:srgbClr val="E5E7EB"/>
                </a:solidFill>
              </a:rPr>
              <a:t>• Cell Block 배치</a:t>
            </a:r>
          </a:p>
          <a:p>
            <a:r>
              <a:rPr lang="ko-KR" sz="1400">
                <a:solidFill>
                  <a:srgbClr val="E5E7EB"/>
                </a:solidFill>
              </a:rPr>
              <a:t>• Pattern Offset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이 정보로 기판 안 모든 구멍의 설계 위치를 만듭니다.</a:t>
            </a:r>
          </a:p>
        </p:txBody>
      </p:sp>
      <p:sp>
        <p:nvSpPr>
          <p:cNvPr id="27" name="Shape 27"/>
          <p:cNvSpPr/>
          <p:nvPr/>
        </p:nvSpPr>
        <p:spPr>
          <a:xfrm>
            <a:off x="2788920" y="868680"/>
            <a:ext cx="2148840" cy="45262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② Review AK</a:t>
            </a:r>
          </a:p>
          <a:p>
            <a:r>
              <a:rPr lang="ko-KR" sz="1400">
                <a:solidFill>
                  <a:srgbClr val="E5E7EB"/>
                </a:solidFill>
              </a:rPr>
              <a:t>• Review Center</a:t>
            </a:r>
          </a:p>
          <a:p>
            <a:r>
              <a:rPr lang="ko-KR" sz="1400">
                <a:solidFill>
                  <a:srgbClr val="E5E7EB"/>
                </a:solidFill>
              </a:rPr>
              <a:t>• Pixel 중심 U0/V0</a:t>
            </a:r>
          </a:p>
          <a:p>
            <a:r>
              <a:rPr lang="ko-KR" sz="1400">
                <a:solidFill>
                  <a:srgbClr val="E5E7EB"/>
                </a:solidFill>
              </a:rPr>
              <a:t>• Pixel Scale</a:t>
            </a:r>
          </a:p>
          <a:p>
            <a:r>
              <a:rPr lang="ko-KR" sz="1400">
                <a:solidFill>
                  <a:srgbClr val="E5E7EB"/>
                </a:solidFill>
              </a:rPr>
              <a:t>• 측정된 AK1 U/V</a:t>
            </a:r>
          </a:p>
          <a:p>
            <a:r>
              <a:rPr lang="ko-KR" sz="1400">
                <a:solidFill>
                  <a:srgbClr val="E5E7EB"/>
                </a:solidFill>
              </a:rPr>
              <a:t>• Theta 보정각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실제 기판이 어디에 놓였는지 찾습니다.</a:t>
            </a:r>
          </a:p>
        </p:txBody>
      </p:sp>
      <p:sp>
        <p:nvSpPr>
          <p:cNvPr id="28" name="Shape 28"/>
          <p:cNvSpPr/>
          <p:nvPr/>
        </p:nvSpPr>
        <p:spPr>
          <a:xfrm>
            <a:off x="5074920" y="868680"/>
            <a:ext cx="2148840" cy="452628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③ Scanner 설계치수</a:t>
            </a:r>
          </a:p>
          <a:p>
            <a:r>
              <a:rPr lang="ko-KR" sz="1400">
                <a:solidFill>
                  <a:srgbClr val="E5E7EB"/>
                </a:solidFill>
              </a:rPr>
              <a:t>• Scanner 개수</a:t>
            </a:r>
          </a:p>
          <a:p>
            <a:r>
              <a:rPr lang="ko-KR" sz="1400">
                <a:solidFill>
                  <a:srgbClr val="E5E7EB"/>
                </a:solidFill>
              </a:rPr>
              <a:t>• 첫 Scanner 중심</a:t>
            </a:r>
          </a:p>
          <a:p>
            <a:r>
              <a:rPr lang="ko-KR" sz="1400">
                <a:solidFill>
                  <a:srgbClr val="E5E7EB"/>
                </a:solidFill>
              </a:rPr>
              <a:t>• Scanner Pitch X</a:t>
            </a:r>
          </a:p>
          <a:p>
            <a:r>
              <a:rPr lang="ko-KR" sz="1400">
                <a:solidFill>
                  <a:srgbClr val="E5E7EB"/>
                </a:solidFill>
              </a:rPr>
              <a:t>• 짝수 Head Y Offset</a:t>
            </a:r>
          </a:p>
          <a:p>
            <a:r>
              <a:rPr lang="ko-KR" sz="1400">
                <a:solidFill>
                  <a:srgbClr val="E5E7EB"/>
                </a:solidFill>
              </a:rPr>
              <a:t>• Field Half X/Y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헤드가 실제 어디에 고정되어 있는지 나타냅니다.</a:t>
            </a:r>
          </a:p>
        </p:txBody>
      </p:sp>
      <p:sp>
        <p:nvSpPr>
          <p:cNvPr id="29" name="Shape 29"/>
          <p:cNvSpPr/>
          <p:nvPr/>
        </p:nvSpPr>
        <p:spPr>
          <a:xfrm>
            <a:off x="7360920" y="868680"/>
            <a:ext cx="2148840" cy="452628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④ DOE / Review 기준</a:t>
            </a:r>
          </a:p>
          <a:p>
            <a:r>
              <a:rPr lang="ko-KR" sz="1400">
                <a:solidFill>
                  <a:srgbClr val="E5E7EB"/>
                </a:solidFill>
              </a:rPr>
              <a:t>• 기준 Scanner Head</a:t>
            </a:r>
          </a:p>
          <a:p>
            <a:r>
              <a:rPr lang="ko-KR" sz="1400">
                <a:solidFill>
                  <a:srgbClr val="E5E7EB"/>
                </a:solidFill>
              </a:rPr>
              <a:t>• DOE Beam 1~16</a:t>
            </a:r>
          </a:p>
          <a:p>
            <a:r>
              <a:rPr lang="ko-KR" sz="1400">
                <a:solidFill>
                  <a:srgbClr val="E5E7EB"/>
                </a:solidFill>
              </a:rPr>
              <a:t>• DOE Pitch X/Y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Review 좌표계를 어떤 Beam 기준으로 볼지 결정합니다.</a:t>
            </a:r>
          </a:p>
        </p:txBody>
      </p:sp>
      <p:sp>
        <p:nvSpPr>
          <p:cNvPr id="30" name="Shape 30"/>
          <p:cNvSpPr/>
          <p:nvPr/>
        </p:nvSpPr>
        <p:spPr>
          <a:xfrm>
            <a:off x="9646920" y="868680"/>
            <a:ext cx="2011680" cy="452628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B923C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⑤ Dynamic Review Correction</a:t>
            </a:r>
          </a:p>
          <a:p>
            <a:r>
              <a:rPr lang="ko-KR" sz="1400">
                <a:solidFill>
                  <a:srgbClr val="E5E7EB"/>
                </a:solidFill>
              </a:rPr>
              <a:t>• 가공 후 Review X/Y 오차</a:t>
            </a:r>
          </a:p>
          <a:p>
            <a:r>
              <a:rPr lang="ko-KR" sz="1400">
                <a:solidFill>
                  <a:srgbClr val="E5E7EB"/>
                </a:solidFill>
              </a:rPr>
              <a:t>• Physical Offset과 분리된 동적 보정값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한 번 측정한 오차를 다음 Plan에 반영합니다.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5. Step 1 - Review Camera로 AK1을 찾는다</a:t>
            </a:r>
          </a:p>
        </p:txBody>
      </p:sp>
      <p:sp>
        <p:nvSpPr>
          <p:cNvPr id="31" name="Shape 31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쉽게 설명</a:t>
            </a:r>
          </a:p>
          <a:p>
            <a:r>
              <a:rPr lang="ko-KR" sz="1700">
                <a:solidFill>
                  <a:srgbClr val="E5E7EB"/>
                </a:solidFill>
              </a:rPr>
              <a:t>기판 좌측상단에 있는 Align Mark(AK1)는 기준점입니다.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카메라가 사진을 찍고, 사진 안에서 AK1이 몇 픽셀 위치에 있는지 측정합니다.</a:t>
            </a:r>
          </a:p>
          <a:p>
            <a:r>
              <a:rPr lang="ko-KR" sz="1700">
                <a:solidFill>
                  <a:srgbClr val="E5E7EB"/>
                </a:solidFill>
              </a:rPr>
              <a:t>이 픽셀 위치를 mm로 바꾸면 Stage 위 실제 AK1 위치를 알 수 있습니다.</a:t>
            </a:r>
          </a:p>
        </p:txBody>
      </p:sp>
      <p:sp>
        <p:nvSpPr>
          <p:cNvPr id="32" name="Shape 32"/>
          <p:cNvSpPr/>
          <p:nvPr/>
        </p:nvSpPr>
        <p:spPr>
          <a:xfrm>
            <a:off x="4526280" y="868680"/>
            <a:ext cx="37033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계산식</a:t>
            </a:r>
          </a:p>
          <a:p>
            <a:r>
              <a:rPr lang="ko-KR" sz="1600">
                <a:solidFill>
                  <a:srgbClr val="E5E7EB"/>
                </a:solidFill>
              </a:rPr>
              <a:t>dU = MeasuredAk1U - U0</a:t>
            </a:r>
          </a:p>
          <a:p>
            <a:r>
              <a:rPr lang="ko-KR" sz="1600">
                <a:solidFill>
                  <a:srgbClr val="E5E7EB"/>
                </a:solidFill>
              </a:rPr>
              <a:t>dV = MeasuredAk1V - V0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AK1.X = ReviewCenterX + dU * PixelScaleX</a:t>
            </a:r>
          </a:p>
          <a:p>
            <a:r>
              <a:rPr lang="ko-KR" sz="1600">
                <a:solidFill>
                  <a:srgbClr val="E5E7EB"/>
                </a:solidFill>
              </a:rPr>
              <a:t>AK1.Y = ReviewCenterY + dV * PixelScaleY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예: AK1 = (105.2001, 1200.10005) mm</a:t>
            </a:r>
          </a:p>
        </p:txBody>
      </p:sp>
      <p:sp>
        <p:nvSpPr>
          <p:cNvPr id="33" name="Shape 33"/>
          <p:cNvSpPr/>
          <p:nvPr/>
        </p:nvSpPr>
        <p:spPr>
          <a:xfrm>
            <a:off x="8503920" y="868680"/>
            <a:ext cx="30632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왜 중요한가?</a:t>
            </a:r>
          </a:p>
          <a:p>
            <a:r>
              <a:rPr lang="ko-KR" sz="1700">
                <a:solidFill>
                  <a:srgbClr val="E5E7EB"/>
                </a:solidFill>
              </a:rPr>
              <a:t>AK1은 지도에서 '현재 내 위치'와 같습니다.</a:t>
            </a:r>
          </a:p>
          <a:p>
            <a:r>
              <a:rPr lang="ko-KR" sz="1700">
                <a:solidFill>
                  <a:srgbClr val="E5E7EB"/>
                </a:solidFill>
              </a:rPr>
              <a:t>현재 위치를 모르면 모든 목적지 좌표도 틀어집니다.</a:t>
            </a:r>
          </a:p>
          <a:p>
            <a:r>
              <a:rPr lang="ko-KR" sz="1700">
                <a:solidFill>
                  <a:srgbClr val="E5E7EB"/>
                </a:solidFill>
              </a:rPr>
              <a:t>따라서 AK1 측정은 전체 변환의 출발점입니다.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6. Step 2 - Recipe로 Cell 안의 모든 가공점을 만든다</a:t>
            </a:r>
          </a:p>
        </p:txBody>
      </p:sp>
      <p:sp>
        <p:nvSpPr>
          <p:cNvPr id="34" name="Shape 34"/>
          <p:cNvSpPr/>
          <p:nvPr/>
        </p:nvSpPr>
        <p:spPr>
          <a:xfrm>
            <a:off x="548640" y="868680"/>
            <a:ext cx="365760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Recipe가 말해주는 것</a:t>
            </a:r>
          </a:p>
          <a:p>
            <a:r>
              <a:rPr lang="ko-KR" sz="1600">
                <a:solidFill>
                  <a:srgbClr val="E5E7EB"/>
                </a:solidFill>
              </a:rPr>
              <a:t>• 첫 번째 가공점은 AK1에서 얼마나 떨어져 있는가?</a:t>
            </a:r>
          </a:p>
          <a:p>
            <a:r>
              <a:rPr lang="ko-KR" sz="1600">
                <a:solidFill>
                  <a:srgbClr val="E5E7EB"/>
                </a:solidFill>
              </a:rPr>
              <a:t>• 가공점은 X 방향으로 몇 mm 간격인가?</a:t>
            </a:r>
          </a:p>
          <a:p>
            <a:r>
              <a:rPr lang="ko-KR" sz="1600">
                <a:solidFill>
                  <a:srgbClr val="E5E7EB"/>
                </a:solidFill>
              </a:rPr>
              <a:t>• Y 방향으로 몇 mm 간격인가?</a:t>
            </a:r>
          </a:p>
          <a:p>
            <a:r>
              <a:rPr lang="ko-KR" sz="1600">
                <a:solidFill>
                  <a:srgbClr val="E5E7EB"/>
                </a:solidFill>
              </a:rPr>
              <a:t>• 몇 행, 몇 열로 반복되는가?</a:t>
            </a:r>
          </a:p>
          <a:p>
            <a:r>
              <a:rPr lang="ko-KR" sz="1600">
                <a:solidFill>
                  <a:srgbClr val="E5E7EB"/>
                </a:solidFill>
              </a:rPr>
              <a:t>• Cell# 블록은 기판 안에 몇 개 배치되는가?</a:t>
            </a:r>
          </a:p>
        </p:txBody>
      </p:sp>
      <p:sp>
        <p:nvSpPr>
          <p:cNvPr id="35" name="Shape 35"/>
          <p:cNvSpPr/>
          <p:nvPr/>
        </p:nvSpPr>
        <p:spPr>
          <a:xfrm>
            <a:off x="4480560" y="868680"/>
            <a:ext cx="37033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500">
                <a:solidFill>
                  <a:srgbClr val="E5E7EB"/>
                </a:solidFill>
              </a:rPr>
              <a:t>좌표 생성 방식</a:t>
            </a:r>
          </a:p>
          <a:p>
            <a:r>
              <a:rPr lang="ko-KR" sz="1500">
                <a:solidFill>
                  <a:srgbClr val="E5E7EB"/>
                </a:solidFill>
              </a:rPr>
              <a:t>LocalX = BlockOriginX + FirstX + Column * PitchX + PatternOffsetX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LocalY = BlockOriginY + FirstY + Row * PitchY + PatternOffsetY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즉, 첫 위치에서 일정 간격으로 표를 채우듯 좌표를 만듭니다.</a:t>
            </a:r>
          </a:p>
        </p:txBody>
      </p:sp>
      <p:sp>
        <p:nvSpPr>
          <p:cNvPr id="36" name="Shape 36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비유</a:t>
            </a:r>
          </a:p>
          <a:p>
            <a:r>
              <a:rPr lang="ko-KR" sz="1700">
                <a:solidFill>
                  <a:srgbClr val="E5E7EB"/>
                </a:solidFill>
              </a:rPr>
              <a:t>엑셀 표에서 A1, B1, C1, A2, B2, C2처럼 셀을 채우는 것과 같습니다.</a:t>
            </a:r>
          </a:p>
          <a:p>
            <a:r>
              <a:rPr lang="ko-KR" sz="1700">
                <a:solidFill>
                  <a:srgbClr val="E5E7EB"/>
                </a:solidFill>
              </a:rPr>
              <a:t>각 칸에는 실제 가공해야 할 (x, y) 좌표가 들어갑니다.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7. Step 3 - Local 좌표를 Stage Global 좌표로 바꾼다</a:t>
            </a:r>
          </a:p>
        </p:txBody>
      </p:sp>
      <p:sp>
        <p:nvSpPr>
          <p:cNvPr id="37" name="Shape 37"/>
          <p:cNvSpPr/>
          <p:nvPr/>
        </p:nvSpPr>
        <p:spPr>
          <a:xfrm>
            <a:off x="594360" y="868680"/>
            <a:ext cx="370332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왜 또 바꾸나?</a:t>
            </a:r>
          </a:p>
          <a:p>
            <a:r>
              <a:rPr lang="ko-KR" sz="1700">
                <a:solidFill>
                  <a:srgbClr val="E5E7EB"/>
                </a:solidFill>
              </a:rPr>
              <a:t>Recipe 좌표는 기판 내부 기준입니다.</a:t>
            </a:r>
          </a:p>
          <a:p>
            <a:r>
              <a:rPr lang="ko-KR" sz="1700">
                <a:solidFill>
                  <a:srgbClr val="E5E7EB"/>
                </a:solidFill>
              </a:rPr>
              <a:t>하지만 장비는 Stage 기준 위치를 써야 합니다.</a:t>
            </a:r>
          </a:p>
          <a:p>
            <a:r>
              <a:rPr lang="ko-KR" sz="1700">
                <a:solidFill>
                  <a:srgbClr val="E5E7EB"/>
                </a:solidFill>
              </a:rPr>
              <a:t>따라서 기판 내부 주소를 장비 전체 주소로 번역해야 합니다.</a:t>
            </a:r>
          </a:p>
        </p:txBody>
      </p:sp>
      <p:sp>
        <p:nvSpPr>
          <p:cNvPr id="38" name="Shape 38"/>
          <p:cNvSpPr/>
          <p:nvPr/>
        </p:nvSpPr>
        <p:spPr>
          <a:xfrm>
            <a:off x="4526280" y="868680"/>
            <a:ext cx="37033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계산 흐름</a:t>
            </a:r>
          </a:p>
          <a:p>
            <a:r>
              <a:rPr lang="ko-KR" sz="1700">
                <a:solidFill>
                  <a:srgbClr val="E5E7EB"/>
                </a:solidFill>
              </a:rPr>
              <a:t>1) Cell Local 좌표를 만든다.</a:t>
            </a:r>
          </a:p>
          <a:p>
            <a:r>
              <a:rPr lang="ko-KR" sz="1700">
                <a:solidFill>
                  <a:srgbClr val="E5E7EB"/>
                </a:solidFill>
              </a:rPr>
              <a:t>2) Review에서 계산한 기판 회전각 theta를 적용한다.</a:t>
            </a:r>
          </a:p>
          <a:p>
            <a:r>
              <a:rPr lang="ko-KR" sz="1700">
                <a:solidFill>
                  <a:srgbClr val="E5E7EB"/>
                </a:solidFill>
              </a:rPr>
              <a:t>3) AK1 Stage Anchor를 더한다.</a:t>
            </a:r>
          </a:p>
          <a:p>
            <a:r>
              <a:rPr lang="ko-KR" sz="1700">
                <a:solidFill>
                  <a:srgbClr val="E5E7EB"/>
                </a:solidFill>
              </a:rPr>
              <a:t/>
            </a:r>
          </a:p>
          <a:p>
            <a:r>
              <a:rPr lang="ko-KR" sz="1700">
                <a:solidFill>
                  <a:srgbClr val="E5E7EB"/>
                </a:solidFill>
              </a:rPr>
              <a:t>Stage = AK1 + R(theta) * Local</a:t>
            </a:r>
          </a:p>
        </p:txBody>
      </p:sp>
      <p:sp>
        <p:nvSpPr>
          <p:cNvPr id="39" name="Shape 39"/>
          <p:cNvSpPr/>
          <p:nvPr/>
        </p:nvSpPr>
        <p:spPr>
          <a:xfrm>
            <a:off x="8458200" y="868680"/>
            <a:ext cx="315468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결과 의미</a:t>
            </a:r>
          </a:p>
          <a:p>
            <a:r>
              <a:rPr lang="ko-KR" sz="1700">
                <a:solidFill>
                  <a:srgbClr val="E5E7EB"/>
                </a:solidFill>
              </a:rPr>
              <a:t>이제 모든 가공점은 Stage 위의 실제 위치가 됩니다.</a:t>
            </a:r>
          </a:p>
          <a:p>
            <a:r>
              <a:rPr lang="ko-KR" sz="1700">
                <a:solidFill>
                  <a:srgbClr val="E5E7EB"/>
                </a:solidFill>
              </a:rPr>
              <a:t>이 좌표를 기준으로 Scanner가 닿는지, 어떤 Gx/Gy가 필요한지 판단할 수 있습니다.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8. Step 4 - Scanner는 지그재그로 고정되어 있다</a:t>
            </a:r>
          </a:p>
        </p:txBody>
      </p:sp>
      <p:sp>
        <p:nvSpPr>
          <p:cNvPr id="40" name="Shape 40"/>
          <p:cNvSpPr/>
          <p:nvPr/>
        </p:nvSpPr>
        <p:spPr>
          <a:xfrm>
            <a:off x="594360" y="868680"/>
            <a:ext cx="3383280" cy="448056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장비 구조</a:t>
            </a:r>
          </a:p>
          <a:p>
            <a:r>
              <a:rPr lang="ko-KR" sz="1600">
                <a:solidFill>
                  <a:srgbClr val="E5E7EB"/>
                </a:solidFill>
              </a:rPr>
              <a:t>Scanner Head들은 X 방향으로 여러 개 배치됩니다.</a:t>
            </a:r>
          </a:p>
          <a:p>
            <a:r>
              <a:rPr lang="ko-KR" sz="1600">
                <a:solidFill>
                  <a:srgbClr val="E5E7EB"/>
                </a:solidFill>
              </a:rPr>
              <a:t>홀수 Head와 짝수 Head는 Y 방향 위치가 조금 어긋난 지그재그 구조입니다.</a:t>
            </a:r>
          </a:p>
          <a:p>
            <a:r>
              <a:rPr lang="ko-KR" sz="1600">
                <a:solidFill>
                  <a:srgbClr val="E5E7EB"/>
                </a:solidFill>
              </a:rPr>
              <a:t>하지만 Scanner 자체는 고정되어 있습니다.</a:t>
            </a:r>
          </a:p>
        </p:txBody>
      </p:sp>
      <p:sp>
        <p:nvSpPr>
          <p:cNvPr id="41" name="Shape 41"/>
          <p:cNvSpPr/>
          <p:nvPr/>
        </p:nvSpPr>
        <p:spPr>
          <a:xfrm>
            <a:off x="4251960" y="868680"/>
            <a:ext cx="3383280" cy="4480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MOF 동작 컨셉</a:t>
            </a:r>
          </a:p>
          <a:p>
            <a:r>
              <a:rPr lang="ko-KR" sz="1600">
                <a:solidFill>
                  <a:srgbClr val="E5E7EB"/>
                </a:solidFill>
              </a:rPr>
              <a:t>기판이 Scanner 위를 Y 방향으로 지나갑니다.</a:t>
            </a:r>
          </a:p>
          <a:p>
            <a:r>
              <a:rPr lang="ko-KR" sz="1600">
                <a:solidFill>
                  <a:srgbClr val="E5E7EB"/>
                </a:solidFill>
              </a:rPr>
              <a:t>그래서 Y 방향은 기판 이동으로 커버됩니다.</a:t>
            </a:r>
          </a:p>
          <a:p>
            <a:r>
              <a:rPr lang="ko-KR" sz="1600">
                <a:solidFill>
                  <a:srgbClr val="E5E7EB"/>
                </a:solidFill>
              </a:rPr>
              <a:t>가공 가능 여부는 X 방향으로 Scanner가 닿는 범위인지가 핵심입니다.</a:t>
            </a:r>
          </a:p>
        </p:txBody>
      </p:sp>
      <p:sp>
        <p:nvSpPr>
          <p:cNvPr id="42" name="Shape 42"/>
          <p:cNvSpPr/>
          <p:nvPr/>
        </p:nvSpPr>
        <p:spPr>
          <a:xfrm>
            <a:off x="7909560" y="868680"/>
            <a:ext cx="370332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500">
                <a:solidFill>
                  <a:srgbClr val="E5E7EB"/>
                </a:solidFill>
              </a:rPr>
              <a:t>판단식</a:t>
            </a:r>
          </a:p>
          <a:p>
            <a:r>
              <a:rPr lang="ko-KR" sz="1500">
                <a:solidFill>
                  <a:srgbClr val="E5E7EB"/>
                </a:solidFill>
              </a:rPr>
              <a:t>abs(ProcessStageX - ScannerCenterX) &lt;= ScannerFieldHalfX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이 조건을 만족하면 해당 Scanner가 그 좌표를 가공 가능한 후보입니다.</a:t>
            </a:r>
          </a:p>
          <a:p>
            <a:r>
              <a:rPr lang="ko-KR" sz="1500">
                <a:solidFill>
                  <a:srgbClr val="E5E7EB"/>
                </a:solidFill>
              </a:rPr>
              <a:t>선택된 Scanner의 X Band는 UI에서 시안색 음영으로 표시됩니다.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9. Step 5 - 물리 Offset을 적용해 Gx/Gy를 만든다</a:t>
            </a:r>
          </a:p>
        </p:txBody>
      </p:sp>
      <p:sp>
        <p:nvSpPr>
          <p:cNvPr id="43" name="Shape 43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Review Camera와 Scanner 중심의 물리적 차이</a:t>
            </a:r>
          </a:p>
          <a:p>
            <a:r>
              <a:rPr lang="ko-KR" sz="1600">
                <a:solidFill>
                  <a:srgbClr val="E5E7EB"/>
                </a:solidFill>
              </a:rPr>
              <a:t>Review Camera 중심과 Scanner 가공 중심은 물리적으로 떨어져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Camera→Scanner 고정 물리 Offset을 적용해야 같은 가공점을 Scanner 기준으로 옮길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먼저 Camera 기준 상대좌표를 만들고 Head별 Physical Offset을 뺍니다.</a:t>
            </a:r>
          </a:p>
        </p:txBody>
      </p:sp>
      <p:sp>
        <p:nvSpPr>
          <p:cNvPr id="44" name="Shape 44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계산식</a:t>
            </a:r>
          </a:p>
          <a:p>
            <a:r>
              <a:rPr lang="ko-KR" sz="1600">
                <a:solidFill>
                  <a:srgbClr val="E5E7EB"/>
                </a:solidFill>
              </a:rPr>
              <a:t>CameraRelative = ProcessStage - ReviewCenter</a:t>
            </a:r>
          </a:p>
          <a:p>
            <a:r>
              <a:rPr lang="ko-KR" sz="1600">
                <a:solidFill>
                  <a:srgbClr val="E5E7EB"/>
                </a:solidFill>
              </a:rPr>
              <a:t>ScannerRelative = CameraRelative - CameraToScannerPhysicalOffset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Odd Head:  Gx = -Dx, Gy = +Dy</a:t>
            </a:r>
          </a:p>
          <a:p>
            <a:r>
              <a:rPr lang="ko-KR" sz="1600">
                <a:solidFill>
                  <a:srgbClr val="E5E7EB"/>
                </a:solidFill>
              </a:rPr>
              <a:t>Even Head: Gx = +Dx, Gy = -Dy</a:t>
            </a:r>
          </a:p>
        </p:txBody>
      </p:sp>
      <p:sp>
        <p:nvSpPr>
          <p:cNvPr id="45" name="Shape 45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왜 Odd/Even 부호가 다른가?</a:t>
            </a:r>
          </a:p>
          <a:p>
            <a:r>
              <a:rPr lang="ko-KR" sz="1600">
                <a:solidFill>
                  <a:srgbClr val="E5E7EB"/>
                </a:solidFill>
              </a:rPr>
              <a:t>지그재그 배치나 광학 방향 때문에 Head별 좌표 방향이 다를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그래서 Head 타입에 따라 Gx/Gy 부호 규칙을 분리합니다.</a:t>
            </a:r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10. Step 6 - DOE 16 Beam과 Review 좌표계</a:t>
            </a:r>
          </a:p>
        </p:txBody>
      </p:sp>
      <p:sp>
        <p:nvSpPr>
          <p:cNvPr id="46" name="Shape 46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DOE란?</a:t>
            </a:r>
          </a:p>
          <a:p>
            <a:r>
              <a:rPr lang="ko-KR" sz="1600">
                <a:solidFill>
                  <a:srgbClr val="E5E7EB"/>
                </a:solidFill>
              </a:rPr>
              <a:t>1개의 Beam이 DOE를 지나며 4 x 4, 총 16개 Beam 위치로 나뉘는 구조로 보면 됩니다.</a:t>
            </a:r>
          </a:p>
          <a:p>
            <a:r>
              <a:rPr lang="ko-KR" sz="1600">
                <a:solidFill>
                  <a:srgbClr val="E5E7EB"/>
                </a:solidFill>
              </a:rPr>
              <a:t>사용자는 H몇 번 Scanner의 DOE 몇 번째 Beam을 Review 기준으로 선택할 수 있습니다.</a:t>
            </a:r>
          </a:p>
        </p:txBody>
      </p:sp>
      <p:sp>
        <p:nvSpPr>
          <p:cNvPr id="47" name="Shape 47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500">
                <a:solidFill>
                  <a:srgbClr val="E5E7EB"/>
                </a:solidFill>
              </a:rPr>
              <a:t>Review 좌표 계산</a:t>
            </a:r>
          </a:p>
          <a:p>
            <a:r>
              <a:rPr lang="ko-KR" sz="1500">
                <a:solidFill>
                  <a:srgbClr val="E5E7EB"/>
                </a:solidFill>
              </a:rPr>
              <a:t>DoeOffset = Beam의 4x4 내부 위치</a:t>
            </a:r>
          </a:p>
          <a:p>
            <a:r>
              <a:rPr lang="ko-KR" sz="1500">
                <a:solidFill>
                  <a:srgbClr val="E5E7EB"/>
                </a:solidFill>
              </a:rPr>
              <a:t>BasisHeadDoeStage = 선택 Scanner 중심 + DoeOffset</a:t>
            </a:r>
          </a:p>
          <a:p>
            <a:r>
              <a:rPr lang="ko-KR" sz="1500">
                <a:solidFill>
                  <a:srgbClr val="E5E7EB"/>
                </a:solidFill>
              </a:rPr>
              <a:t>ReviewCoord = ProcessStage - BasisHeadDoeStage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즉, 선택한 DOE Beam을 원점처럼 보고 모든 좌표를 다시 표현합니다.</a:t>
            </a:r>
          </a:p>
        </p:txBody>
      </p:sp>
      <p:sp>
        <p:nvSpPr>
          <p:cNvPr id="48" name="Shape 48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UI 표현</a:t>
            </a:r>
          </a:p>
          <a:p>
            <a:r>
              <a:rPr lang="ko-KR" sz="1600">
                <a:solidFill>
                  <a:srgbClr val="E5E7EB"/>
                </a:solidFill>
              </a:rPr>
              <a:t>DOE 16 Matrix 탭에서 4 x 4 Beam을 클릭합니다.</a:t>
            </a:r>
          </a:p>
          <a:p>
            <a:r>
              <a:rPr lang="ko-KR" sz="1600">
                <a:solidFill>
                  <a:srgbClr val="E5E7EB"/>
                </a:solidFill>
              </a:rPr>
              <a:t>선택한 Beam 기준으로 Review 2D Matrix의 모든 좌표가 다시 계산됩니다.</a:t>
            </a:r>
          </a:p>
        </p:txBody>
      </p:sp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11. Step 7 - Dynamic Review Correction으로 다음 가공을 보정한다</a:t>
            </a:r>
          </a:p>
        </p:txBody>
      </p:sp>
      <p:sp>
        <p:nvSpPr>
          <p:cNvPr id="49" name="Shape 49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가공 후 Review</a:t>
            </a:r>
          </a:p>
          <a:p>
            <a:r>
              <a:rPr lang="ko-KR" sz="1600">
                <a:solidFill>
                  <a:srgbClr val="E5E7EB"/>
                </a:solidFill>
              </a:rPr>
              <a:t>가공한 뒤 Review Camera로 실제 결과를 측정합니다.</a:t>
            </a:r>
          </a:p>
          <a:p>
            <a:r>
              <a:rPr lang="ko-KR" sz="1600">
                <a:solidFill>
                  <a:srgbClr val="E5E7EB"/>
                </a:solidFill>
              </a:rPr>
              <a:t>목표 위치와 실제 위치가 다르면 오차가 생깁니다.</a:t>
            </a:r>
          </a:p>
          <a:p>
            <a:r>
              <a:rPr lang="ko-KR" sz="1600">
                <a:solidFill>
                  <a:srgbClr val="E5E7EB"/>
                </a:solidFill>
              </a:rPr>
              <a:t>이 오차는 Dynamic Review Correction으로 다음 가공에 반영하며, 장비 치수인 Physical Offset과 분리합니다.</a:t>
            </a:r>
          </a:p>
        </p:txBody>
      </p:sp>
      <p:sp>
        <p:nvSpPr>
          <p:cNvPr id="50" name="Shape 50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B923C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보정 개념</a:t>
            </a:r>
          </a:p>
          <a:p>
            <a:r>
              <a:rPr lang="ko-KR" sz="1600">
                <a:solidFill>
                  <a:srgbClr val="E5E7EB"/>
                </a:solidFill>
              </a:rPr>
              <a:t>Error = Measured - Target</a:t>
            </a:r>
          </a:p>
          <a:p>
            <a:r>
              <a:rPr lang="ko-KR" sz="1600">
                <a:solidFill>
                  <a:srgbClr val="E5E7EB"/>
                </a:solidFill>
              </a:rPr>
              <a:t>ProcessOffset = -Error</a:t>
            </a:r>
          </a:p>
          <a:p>
            <a:r>
              <a:rPr lang="ko-KR" sz="1600">
                <a:solidFill>
                  <a:srgbClr val="E5E7EB"/>
                </a:solidFill>
              </a:rPr>
              <a:t>Next ProcessStage = DesignStage + ProcessOffset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목표보다 오른쪽으로 뚫렸다면, 다음에는 왼쪽으로 보정합니다.</a:t>
            </a:r>
          </a:p>
        </p:txBody>
      </p:sp>
      <p:sp>
        <p:nvSpPr>
          <p:cNvPr id="51" name="Shape 51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의미</a:t>
            </a:r>
          </a:p>
          <a:p>
            <a:r>
              <a:rPr lang="ko-KR" sz="1600">
                <a:solidFill>
                  <a:srgbClr val="E5E7EB"/>
                </a:solidFill>
              </a:rPr>
              <a:t>처음부터 완벽히 맞추는 것보다, 측정 결과를 바탕으로 계속 보정할 수 있는 구조가 중요합니다.</a:t>
            </a:r>
          </a:p>
          <a:p>
            <a:r>
              <a:rPr lang="ko-KR" sz="1600">
                <a:solidFill>
                  <a:srgbClr val="E5E7EB"/>
                </a:solidFill>
              </a:rPr>
              <a:t>이 구조가 있으면 Review 측정 기능이 추가되어도 확장 가능합니다.</a:t>
            </a:r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12. 프로그램 UI에서 보여주는 것</a:t>
            </a:r>
          </a:p>
        </p:txBody>
      </p:sp>
      <p:sp>
        <p:nvSpPr>
          <p:cNvPr id="52" name="Shape 52"/>
          <p:cNvSpPr/>
          <p:nvPr/>
        </p:nvSpPr>
        <p:spPr>
          <a:xfrm>
            <a:off x="502920" y="868680"/>
            <a:ext cx="3657600" cy="4526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Board View</a:t>
            </a:r>
          </a:p>
          <a:p>
            <a:r>
              <a:rPr lang="ko-KR" sz="1600">
                <a:solidFill>
                  <a:srgbClr val="E5E7EB"/>
                </a:solidFill>
              </a:rPr>
              <a:t>• 기판 안 Cell 배치</a:t>
            </a:r>
          </a:p>
          <a:p>
            <a:r>
              <a:rPr lang="ko-KR" sz="1600">
                <a:solidFill>
                  <a:srgbClr val="E5E7EB"/>
                </a:solidFill>
              </a:rPr>
              <a:t>• 선택 Cell 표시</a:t>
            </a:r>
          </a:p>
          <a:p>
            <a:r>
              <a:rPr lang="ko-KR" sz="1600">
                <a:solidFill>
                  <a:srgbClr val="E5E7EB"/>
                </a:solidFill>
              </a:rPr>
              <a:t>• 선택 Scanner의 X 가공 가능 Band 표시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Head 지그재그 배치 표시</a:t>
            </a:r>
          </a:p>
          <a:p>
            <a:r>
              <a:rPr lang="ko-KR" sz="1600">
                <a:solidFill>
                  <a:srgbClr val="E5E7EB"/>
                </a:solidFill>
              </a:rPr>
              <a:t>• 확대/축소/스크롤 지원</a:t>
            </a:r>
          </a:p>
        </p:txBody>
      </p:sp>
      <p:sp>
        <p:nvSpPr>
          <p:cNvPr id="53" name="Shape 53"/>
          <p:cNvSpPr/>
          <p:nvPr/>
        </p:nvSpPr>
        <p:spPr>
          <a:xfrm>
            <a:off x="4434840" y="868680"/>
            <a:ext cx="3657600" cy="45262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2D Matrix View</a:t>
            </a:r>
          </a:p>
          <a:p>
            <a:r>
              <a:rPr lang="ko-KR" sz="1600">
                <a:solidFill>
                  <a:srgbClr val="E5E7EB"/>
                </a:solidFill>
              </a:rPr>
              <a:t>• Design 2D Matrix: 설계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Process 2D Matrix: Gx/Gy 가공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2D Matrix: DOE 기준 Review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드래그/Shift/Ctrl 복수 선택 지원</a:t>
            </a:r>
          </a:p>
        </p:txBody>
      </p:sp>
      <p:sp>
        <p:nvSpPr>
          <p:cNvPr id="54" name="Shape 54"/>
          <p:cNvSpPr/>
          <p:nvPr/>
        </p:nvSpPr>
        <p:spPr>
          <a:xfrm>
            <a:off x="8366760" y="868680"/>
            <a:ext cx="3291840" cy="45262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CSV 설정</a:t>
            </a:r>
          </a:p>
          <a:p>
            <a:r>
              <a:rPr lang="ko-KR" sz="1600">
                <a:solidFill>
                  <a:srgbClr val="E5E7EB"/>
                </a:solidFill>
              </a:rPr>
              <a:t>Excel에서 Recipe처럼 값을 바꾸고 저장할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프로그램은 CSV를 다시 읽어 Board와 Matrix를 즉시 갱신합니다.</a:t>
            </a:r>
          </a:p>
        </p:txBody>
      </p:sp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13. 현재 구현이 설명하는 데이터 구조</a:t>
            </a:r>
          </a:p>
        </p:txBody>
      </p:sp>
      <p:sp>
        <p:nvSpPr>
          <p:cNvPr id="55" name="Shape 55"/>
          <p:cNvSpPr/>
          <p:nvPr/>
        </p:nvSpPr>
        <p:spPr>
          <a:xfrm>
            <a:off x="594360" y="868680"/>
            <a:ext cx="347472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CoordinateInput</a:t>
            </a:r>
          </a:p>
          <a:p>
            <a:r>
              <a:rPr lang="ko-KR" sz="1600">
                <a:solidFill>
                  <a:srgbClr val="E5E7EB"/>
                </a:solidFill>
              </a:rPr>
              <a:t>입력 파라미터 보관소입니다.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Board, Review, Cell, Scanner, DOE, Offset 값이 모두 이 안에 들어갑니다.</a:t>
            </a:r>
          </a:p>
          <a:p>
            <a:r>
              <a:rPr lang="ko-KR" sz="1600">
                <a:solidFill>
                  <a:srgbClr val="E5E7EB"/>
                </a:solidFill>
              </a:rPr>
              <a:t>쉽게 말해 계산 전 재료 상자입니다.</a:t>
            </a:r>
          </a:p>
        </p:txBody>
      </p:sp>
      <p:sp>
        <p:nvSpPr>
          <p:cNvPr id="56" name="Shape 56"/>
          <p:cNvSpPr/>
          <p:nvPr/>
        </p:nvSpPr>
        <p:spPr>
          <a:xfrm>
            <a:off x="4343400" y="868680"/>
            <a:ext cx="34747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CoordinateTransformService</a:t>
            </a:r>
          </a:p>
          <a:p>
            <a:r>
              <a:rPr lang="ko-KR" sz="1600">
                <a:solidFill>
                  <a:srgbClr val="E5E7EB"/>
                </a:solidFill>
              </a:rPr>
              <a:t>계산 담당입니다.</a:t>
            </a:r>
          </a:p>
          <a:p>
            <a:r>
              <a:rPr lang="ko-KR" sz="1600">
                <a:solidFill>
                  <a:srgbClr val="E5E7EB"/>
                </a:solidFill>
              </a:rPr>
              <a:t>AK1 Anchor 생성, Cell 좌표 생성, Scanner 판단, Gx/Gy 변환, Review 좌표 계산을 수행합니다.</a:t>
            </a:r>
          </a:p>
        </p:txBody>
      </p:sp>
      <p:sp>
        <p:nvSpPr>
          <p:cNvPr id="57" name="Shape 57"/>
          <p:cNvSpPr/>
          <p:nvPr/>
        </p:nvSpPr>
        <p:spPr>
          <a:xfrm>
            <a:off x="8092440" y="868680"/>
            <a:ext cx="347472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CoordinateResult / CellCommand</a:t>
            </a:r>
          </a:p>
          <a:p>
            <a:r>
              <a:rPr lang="ko-KR" sz="1600">
                <a:solidFill>
                  <a:srgbClr val="E5E7EB"/>
                </a:solidFill>
              </a:rPr>
              <a:t>계산 결과입니다.</a:t>
            </a:r>
          </a:p>
          <a:p>
            <a:r>
              <a:rPr lang="ko-KR" sz="1600">
                <a:solidFill>
                  <a:srgbClr val="E5E7EB"/>
                </a:solidFill>
              </a:rPr>
              <a:t>각 CellCommand는 한 가공점의 설계 좌표, Stage 좌표, Scanner 번호, Gx/Gy, Review 좌표를 들고 다닙니다.</a:t>
            </a:r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14. 팀장님께 보고할 핵심 포인트</a:t>
            </a:r>
          </a:p>
        </p:txBody>
      </p:sp>
      <p:sp>
        <p:nvSpPr>
          <p:cNvPr id="58" name="Shape 58"/>
          <p:cNvSpPr/>
          <p:nvPr/>
        </p:nvSpPr>
        <p:spPr>
          <a:xfrm>
            <a:off x="594360" y="868680"/>
            <a:ext cx="521208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기술 포인트</a:t>
            </a:r>
          </a:p>
          <a:p>
            <a:r>
              <a:rPr lang="ko-KR" sz="1600">
                <a:solidFill>
                  <a:srgbClr val="E5E7EB"/>
                </a:solidFill>
              </a:rPr>
              <a:t>1) AK1 측정값으로 전체 기판 좌표 기준을 잡습니다.</a:t>
            </a:r>
          </a:p>
          <a:p>
            <a:r>
              <a:rPr lang="ko-KR" sz="1600">
                <a:solidFill>
                  <a:srgbClr val="E5E7EB"/>
                </a:solidFill>
              </a:rPr>
              <a:t>2) Recipe의 Cell/Pitch 정보를 통해 모든 가공점을 자동 생성합니다.</a:t>
            </a:r>
          </a:p>
          <a:p>
            <a:r>
              <a:rPr lang="ko-KR" sz="1600">
                <a:solidFill>
                  <a:srgbClr val="E5E7EB"/>
                </a:solidFill>
              </a:rPr>
              <a:t>3) Scanner는 지그재그 고정 배치이고, MOF에서는 X Band 기준으로 가공 가능 좌표를 판단합니다.</a:t>
            </a:r>
          </a:p>
          <a:p>
            <a:r>
              <a:rPr lang="ko-KR" sz="1600">
                <a:solidFill>
                  <a:srgbClr val="E5E7EB"/>
                </a:solidFill>
              </a:rPr>
              <a:t>4) 결과는 Design / Process / Review 좌표로 분리해서 확인합니다.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6172200" y="868680"/>
            <a:ext cx="5394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개발 포인트</a:t>
            </a:r>
          </a:p>
          <a:p>
            <a:r>
              <a:rPr lang="ko-KR" sz="1600">
                <a:solidFill>
                  <a:srgbClr val="E5E7EB"/>
                </a:solidFill>
              </a:rPr>
              <a:t>1) 현재는 좌표계 컨셉 검증과 설명용 UI가 구현되어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2) CSV 기반으로 파라미터를 쉽게 바꿀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3) Camera→Scanner Physical Offset과 Dynamic Review Correction을 분리했습니다.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4) 실제 장비 연동 시 Scanner별 보정 테이블과 Review 측정값 입력부를 붙이면 됩니다.</a:t>
            </a:r>
          </a:p>
        </p:txBody>
      </p:sp>
    </p:spTree>
  </p:cSld>
  <p:clrMapOvr>
    <a:masterClrMapping/>
  </p:clrMapOvr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15. 처음 보는 사람이 꼭 기억할 한 문장</a:t>
            </a:r>
          </a:p>
        </p:txBody>
      </p:sp>
      <p:sp>
        <p:nvSpPr>
          <p:cNvPr id="60" name="Shape 60"/>
          <p:cNvSpPr/>
          <p:nvPr/>
        </p:nvSpPr>
        <p:spPr>
          <a:xfrm>
            <a:off x="731520" y="1005840"/>
            <a:ext cx="10789920" cy="10972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2200" b="1">
                <a:solidFill>
                  <a:srgbClr val="E0FCFF"/>
                </a:solidFill>
              </a:rPr>
              <a:t>'카메라가 기판의 기준점 AK1을 찾아주면, 프로그램이 그 기준으로 모든 구멍 위치를 장비 좌표와 Scanner 명령으로 번역한다.'</a:t>
            </a:r>
          </a:p>
        </p:txBody>
      </p:sp>
      <p:sp>
        <p:nvSpPr>
          <p:cNvPr id="61" name="Shape 61"/>
          <p:cNvSpPr/>
          <p:nvPr/>
        </p:nvSpPr>
        <p:spPr>
          <a:xfrm>
            <a:off x="731520" y="2514600"/>
            <a:ext cx="3337560" cy="25603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기준점</a:t>
            </a:r>
          </a:p>
          <a:p>
            <a:r>
              <a:rPr lang="ko-KR" sz="1800">
                <a:solidFill>
                  <a:srgbClr val="E5E7EB"/>
                </a:solidFill>
              </a:rPr>
              <a:t>AK1은 지도에서 '내 위치'입니다.</a:t>
            </a:r>
          </a:p>
          <a:p>
            <a:r>
              <a:rPr lang="ko-KR" sz="1800">
                <a:solidFill>
                  <a:srgbClr val="E5E7EB"/>
                </a:solidFill>
              </a:rPr>
              <a:t>내 위치를 알아야 목적지까지 갈 수 있습니다.</a:t>
            </a:r>
          </a:p>
        </p:txBody>
      </p:sp>
      <p:sp>
        <p:nvSpPr>
          <p:cNvPr id="62" name="Shape 62"/>
          <p:cNvSpPr/>
          <p:nvPr/>
        </p:nvSpPr>
        <p:spPr>
          <a:xfrm>
            <a:off x="4434840" y="2514600"/>
            <a:ext cx="3337560" cy="25603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목적지</a:t>
            </a:r>
          </a:p>
          <a:p>
            <a:r>
              <a:rPr lang="ko-KR" sz="1800">
                <a:solidFill>
                  <a:srgbClr val="E5E7EB"/>
                </a:solidFill>
              </a:rPr>
              <a:t>Cell 안의 각 가공점은 목적지입니다.</a:t>
            </a:r>
          </a:p>
          <a:p>
            <a:r>
              <a:rPr lang="ko-KR" sz="1800">
                <a:solidFill>
                  <a:srgbClr val="E5E7EB"/>
                </a:solidFill>
              </a:rPr>
              <a:t>Recipe가 목적지 목록을 줍니다.</a:t>
            </a:r>
          </a:p>
        </p:txBody>
      </p:sp>
      <p:sp>
        <p:nvSpPr>
          <p:cNvPr id="63" name="Shape 63"/>
          <p:cNvSpPr/>
          <p:nvPr/>
        </p:nvSpPr>
        <p:spPr>
          <a:xfrm>
            <a:off x="8138160" y="2514600"/>
            <a:ext cx="3337560" cy="25603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이동수단</a:t>
            </a:r>
          </a:p>
          <a:p>
            <a:r>
              <a:rPr lang="ko-KR" sz="1800">
                <a:solidFill>
                  <a:srgbClr val="E5E7EB"/>
                </a:solidFill>
              </a:rPr>
              <a:t>Scanner는 고정된 가공 장치입니다.</a:t>
            </a:r>
          </a:p>
          <a:p>
            <a:r>
              <a:rPr lang="ko-KR" sz="1800">
                <a:solidFill>
                  <a:srgbClr val="E5E7EB"/>
                </a:solidFill>
              </a:rPr>
              <a:t>프로그램이 어느 Scanner가 목적지에 닿는지 판단합니다.</a:t>
            </a:r>
          </a:p>
        </p:txBody>
      </p:sp>
    </p:spTree>
  </p:cSld>
  <p:clrMapOvr>
    <a:masterClrMapping/>
  </p:clrMapOvr>
</p:sld>
</file>

<file path=ppt\slides\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16. 향후 실제 장비 적용 시 추가 확인 항목</a:t>
            </a:r>
          </a:p>
        </p:txBody>
      </p:sp>
      <p:sp>
        <p:nvSpPr>
          <p:cNvPr id="64" name="Shape 64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Scanner Calibration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Camera→H1 Physical Offset 실측값</a:t>
            </a:r>
          </a:p>
          <a:p>
            <a:r>
              <a:rPr lang="ko-KR" sz="1600">
                <a:solidFill>
                  <a:srgbClr val="E5E7EB"/>
                </a:solidFill>
              </a:rPr>
              <a:t>• Head별 FieldHalfX 유효 범위</a:t>
            </a:r>
          </a:p>
          <a:p>
            <a:r>
              <a:rPr lang="ko-KR" sz="1600">
                <a:solidFill>
                  <a:srgbClr val="E5E7EB"/>
                </a:solidFill>
              </a:rPr>
              <a:t>• Odd/Even 부호 규칙 실측 검증</a:t>
            </a:r>
          </a:p>
          <a:p>
            <a:r>
              <a:rPr lang="ko-KR" sz="1600">
                <a:solidFill>
                  <a:srgbClr val="E5E7EB"/>
                </a:solidFill>
              </a:rPr>
              <a:t>• DOE Beam별 실제 Offset 보정</a:t>
            </a:r>
          </a:p>
        </p:txBody>
      </p:sp>
      <p:sp>
        <p:nvSpPr>
          <p:cNvPr id="65" name="Shape 65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Review Measurement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결과 입력 포맷</a:t>
            </a:r>
          </a:p>
          <a:p>
            <a:r>
              <a:rPr lang="ko-KR" sz="1600">
                <a:solidFill>
                  <a:srgbClr val="E5E7EB"/>
                </a:solidFill>
              </a:rPr>
              <a:t>• 기준 Beam 선택 정책</a:t>
            </a:r>
          </a:p>
          <a:p>
            <a:r>
              <a:rPr lang="ko-KR" sz="1600">
                <a:solidFill>
                  <a:srgbClr val="E5E7EB"/>
                </a:solidFill>
              </a:rPr>
              <a:t>• 측정 반복 횟수</a:t>
            </a:r>
          </a:p>
          <a:p>
            <a:r>
              <a:rPr lang="ko-KR" sz="1600">
                <a:solidFill>
                  <a:srgbClr val="E5E7EB"/>
                </a:solidFill>
              </a:rPr>
              <a:t>• 이상치 제거 기준</a:t>
            </a:r>
          </a:p>
          <a:p>
            <a:r>
              <a:rPr lang="ko-KR" sz="1600">
                <a:solidFill>
                  <a:srgbClr val="E5E7EB"/>
                </a:solidFill>
              </a:rPr>
              <a:t>• Offset 반영 시점</a:t>
            </a:r>
          </a:p>
        </p:txBody>
      </p:sp>
      <p:sp>
        <p:nvSpPr>
          <p:cNvPr id="66" name="Shape 66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Process Plan</a:t>
            </a:r>
          </a:p>
          <a:p>
            <a:r>
              <a:rPr lang="ko-KR" sz="1600">
                <a:solidFill>
                  <a:srgbClr val="E5E7EB"/>
                </a:solidFill>
              </a:rPr>
              <a:t>• Recipe 버전 관리</a:t>
            </a:r>
          </a:p>
          <a:p>
            <a:r>
              <a:rPr lang="ko-KR" sz="1600">
                <a:solidFill>
                  <a:srgbClr val="E5E7EB"/>
                </a:solidFill>
              </a:rPr>
              <a:t>• CSV/Excel 입력 검증</a:t>
            </a:r>
          </a:p>
          <a:p>
            <a:r>
              <a:rPr lang="ko-KR" sz="1600">
                <a:solidFill>
                  <a:srgbClr val="E5E7EB"/>
                </a:solidFill>
              </a:rPr>
              <a:t>• 좌표 범위 초과 알람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중복 커버 시 우선순위</a:t>
            </a:r>
          </a:p>
        </p:txBody>
      </p:sp>
    </p:spTree>
  </p:cSld>
  <p:clrMapOvr>
    <a:masterClrMapping/>
  </p:clrMapOvr>
</p:sld>
</file>

<file path=ppt\slides\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17. 보고 결론</a:t>
            </a:r>
          </a:p>
        </p:txBody>
      </p:sp>
      <p:sp>
        <p:nvSpPr>
          <p:cNvPr id="67" name="Shape 67"/>
          <p:cNvSpPr/>
          <p:nvPr/>
        </p:nvSpPr>
        <p:spPr>
          <a:xfrm>
            <a:off x="594360" y="914400"/>
            <a:ext cx="10972800" cy="1051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2200" b="1">
                <a:solidFill>
                  <a:srgbClr val="E0FCFF"/>
                </a:solidFill>
              </a:rPr>
              <a:t>현재 자료와 샘플 프로그램은 '좌표계 변환 컨셉을 설명하고 검증하기 위한 Base'로 사용할 수 있습니다.</a:t>
            </a:r>
          </a:p>
        </p:txBody>
      </p:sp>
      <p:sp>
        <p:nvSpPr>
          <p:cNvPr id="68" name="Shape 68"/>
          <p:cNvSpPr/>
          <p:nvPr/>
        </p:nvSpPr>
        <p:spPr>
          <a:xfrm>
            <a:off x="594360" y="2331720"/>
            <a:ext cx="3520440" cy="2743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완료된 부분</a:t>
            </a:r>
          </a:p>
          <a:p>
            <a:r>
              <a:rPr lang="ko-KR" sz="1600">
                <a:solidFill>
                  <a:srgbClr val="E5E7EB"/>
                </a:solidFill>
              </a:rPr>
              <a:t>• AK1 기반 Stage Anchor</a:t>
            </a:r>
          </a:p>
          <a:p>
            <a:r>
              <a:rPr lang="ko-KR" sz="1600">
                <a:solidFill>
                  <a:srgbClr val="E5E7EB"/>
                </a:solidFill>
              </a:rPr>
              <a:t>• Cell 좌표 자동 생성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X Band 판단</a:t>
            </a:r>
          </a:p>
          <a:p>
            <a:r>
              <a:rPr lang="ko-KR" sz="1600">
                <a:solidFill>
                  <a:srgbClr val="E5E7EB"/>
                </a:solidFill>
              </a:rPr>
              <a:t>• Gx/Gy 변환</a:t>
            </a:r>
          </a:p>
          <a:p>
            <a:r>
              <a:rPr lang="ko-KR" sz="1600">
                <a:solidFill>
                  <a:srgbClr val="E5E7EB"/>
                </a:solidFill>
              </a:rPr>
              <a:t>• DOE 16 Review 좌표 표현</a:t>
            </a:r>
          </a:p>
          <a:p>
            <a:r>
              <a:rPr lang="ko-KR" sz="1600">
                <a:solidFill>
                  <a:srgbClr val="E5E7EB"/>
                </a:solidFill>
              </a:rPr>
              <a:t>• Dark UI / Matrix 복수 선택</a:t>
            </a:r>
          </a:p>
        </p:txBody>
      </p:sp>
      <p:sp>
        <p:nvSpPr>
          <p:cNvPr id="69" name="Shape 69"/>
          <p:cNvSpPr/>
          <p:nvPr/>
        </p:nvSpPr>
        <p:spPr>
          <a:xfrm>
            <a:off x="4480560" y="2331720"/>
            <a:ext cx="3520440" cy="274320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설명 가능한 부분</a:t>
            </a:r>
          </a:p>
          <a:p>
            <a:r>
              <a:rPr lang="ko-KR" sz="1700">
                <a:solidFill>
                  <a:srgbClr val="E5E7EB"/>
                </a:solidFill>
              </a:rPr>
              <a:t>팀장님께 전체 흐름을 한 장씩 설명할 수 있고, 현장 담당자도 UI에서 좌표가 어떻게 이동하는지 확인할 수 있습니다.</a:t>
            </a:r>
          </a:p>
        </p:txBody>
      </p:sp>
      <p:sp>
        <p:nvSpPr>
          <p:cNvPr id="70" name="Shape 70"/>
          <p:cNvSpPr/>
          <p:nvPr/>
        </p:nvSpPr>
        <p:spPr>
          <a:xfrm>
            <a:off x="8366760" y="2331720"/>
            <a:ext cx="3200400" cy="274320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다음 단계</a:t>
            </a:r>
          </a:p>
          <a:p>
            <a:r>
              <a:rPr lang="ko-KR" sz="1700">
                <a:solidFill>
                  <a:srgbClr val="E5E7EB"/>
                </a:solidFill>
              </a:rPr>
              <a:t>실제 장비값, Review 측정 결과 포맷, Scanner 보정값을 연결하면 운영용 구조로 확장할 수 있습니다.</a:t>
            </a:r>
          </a:p>
        </p:txBody>
      </p:sp>
    </p:spTree>
  </p:cSld>
  <p:clrMapOvr>
    <a:masterClrMapping/>
  </p:clrMapOvr>
</p:sld>
</file>

<file path=ppt\slides\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부록 A. 용어를 아주 쉽게 풀어보기</a:t>
            </a:r>
          </a:p>
        </p:txBody>
      </p:sp>
      <p:sp>
        <p:nvSpPr>
          <p:cNvPr id="71" name="Shape 71"/>
          <p:cNvSpPr/>
          <p:nvPr/>
        </p:nvSpPr>
        <p:spPr>
          <a:xfrm>
            <a:off x="594360" y="868680"/>
            <a:ext cx="3566160" cy="448056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AK1</a:t>
            </a:r>
          </a:p>
          <a:p>
            <a:r>
              <a:rPr lang="ko-KR" sz="1700">
                <a:solidFill>
                  <a:srgbClr val="E5E7EB"/>
                </a:solidFill>
              </a:rPr>
              <a:t>기판의 기준점입니다.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책상 위에서 자를 놓을 때 0cm 위치와 비슷합니다.</a:t>
            </a:r>
          </a:p>
        </p:txBody>
      </p:sp>
      <p:sp>
        <p:nvSpPr>
          <p:cNvPr id="72" name="Shape 72"/>
          <p:cNvSpPr/>
          <p:nvPr/>
        </p:nvSpPr>
        <p:spPr>
          <a:xfrm>
            <a:off x="4434840" y="868680"/>
            <a:ext cx="3566160" cy="4480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Pitch</a:t>
            </a:r>
          </a:p>
          <a:p>
            <a:r>
              <a:rPr lang="ko-KR" sz="1700">
                <a:solidFill>
                  <a:srgbClr val="E5E7EB"/>
                </a:solidFill>
              </a:rPr>
              <a:t>반복 간격입니다.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칸과 칸 사이 거리가 50mm라면 PitchX=50입니다.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8275320" y="868680"/>
            <a:ext cx="3291840" cy="448056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B923C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Offset</a:t>
            </a:r>
          </a:p>
          <a:p>
            <a:r>
              <a:rPr lang="ko-KR" sz="1700">
                <a:solidFill>
                  <a:srgbClr val="E5E7EB"/>
                </a:solidFill>
              </a:rPr>
              <a:t>Physical Offset은 Camera와 Scanner의 고정거리이고, Dynamic Correction은 가공 후 오차 보정값입니다.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측정 결과가 밀렸다면 반대 방향으로 보정합니다.</a:t>
            </a:r>
          </a:p>
        </p:txBody>
      </p:sp>
    </p:spTree>
  </p:cSld>
  <p:clrMapOvr>
    <a:masterClrMapping/>
  </p:clrMapOvr>
</p:sld>
</file>

<file path=ppt\slides\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부록 B. 자주 받을 질문과 답변</a:t>
            </a:r>
          </a:p>
        </p:txBody>
      </p:sp>
      <p:sp>
        <p:nvSpPr>
          <p:cNvPr id="74" name="Shape 74"/>
          <p:cNvSpPr/>
          <p:nvPr/>
        </p:nvSpPr>
        <p:spPr>
          <a:xfrm>
            <a:off x="594360" y="868680"/>
            <a:ext cx="521208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Q1. 왜 Y 방향은 전체 커버로 보나요?</a:t>
            </a:r>
          </a:p>
          <a:p>
            <a:r>
              <a:rPr lang="ko-KR" sz="1600">
                <a:solidFill>
                  <a:srgbClr val="E5E7EB"/>
                </a:solidFill>
              </a:rPr>
              <a:t>A. MOF 컨셉에서는 Scanner가 고정되어 있고 기판이 Y 방향으로 이동합니다. 그래서 특정 순간의 Head 위치는 고정이지만, 기판 이동 과정 전체를 보면 Y 방향의 넓은 영역을 지나가며 처리할 수 있습니다. 따라서 가공 가능 판단은 X Band가 핵심입니다.</a:t>
            </a:r>
          </a:p>
        </p:txBody>
      </p:sp>
      <p:sp>
        <p:nvSpPr>
          <p:cNvPr id="75" name="Shape 75"/>
          <p:cNvSpPr/>
          <p:nvPr/>
        </p:nvSpPr>
        <p:spPr>
          <a:xfrm>
            <a:off x="6172200" y="868680"/>
            <a:ext cx="5394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Q2. Scanner가 여러 개 겹쳐서 커버하면 어떻게 하나요?</a:t>
            </a:r>
          </a:p>
          <a:p>
            <a:r>
              <a:rPr lang="ko-KR" sz="1600">
                <a:solidFill>
                  <a:srgbClr val="E5E7EB"/>
                </a:solidFill>
              </a:rPr>
              <a:t>A. 현재 샘플은 커버 가능한 좌표를 표시하는 Base입니다. 실제 장비 적용 시에는 우선순위, Head 상태, 부하 분산, 보정값을 고려해 어떤 Head가 담당할지 결정 규칙을 추가하면 됩니다.</a:t>
            </a:r>
          </a:p>
        </p:txBody>
      </p:sp>
    </p:spTree>
  </p:cSld>
  <p:clrMapOvr>
    <a:masterClrMapping/>
  </p:clrMapOvr>
</p:sld>
</file>

<file path=ppt\slides\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부록 C. 발표자가 기억하면 좋은 설명 순서</a:t>
            </a:r>
          </a:p>
        </p:txBody>
      </p:sp>
      <p:sp>
        <p:nvSpPr>
          <p:cNvPr id="76" name="Shape 76"/>
          <p:cNvSpPr/>
          <p:nvPr/>
        </p:nvSpPr>
        <p:spPr>
          <a:xfrm>
            <a:off x="685800" y="868680"/>
            <a:ext cx="10698480" cy="45262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1) 먼저 '이 자료는 좌표 번역 설명서'라고 말합니다.</a:t>
            </a:r>
          </a:p>
          <a:p>
            <a:r>
              <a:rPr lang="ko-KR" sz="1800">
                <a:solidFill>
                  <a:srgbClr val="E5E7EB"/>
                </a:solidFill>
              </a:rPr>
              <a:t>2) AK1은 지도 기준점이라고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3) Recipe는 기판 내부의 목적지 목록이라고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4) Stage 좌표는 장비 전체가 알아듣는 주소라고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5) Camera와 Scanner 사이의 고정 물리 Offset을 먼저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6) Scanner는 고정되고 기판이 Y로 이동하므로 X Band가 핵심이라고 말합니다.</a:t>
            </a:r>
          </a:p>
          <a:p>
            <a:r>
              <a:rPr lang="ko-KR" sz="1800">
                <a:solidFill>
                  <a:srgbClr val="E5E7EB"/>
                </a:solidFill>
              </a:rPr>
              <a:t>7) 최종 결과는 Design 좌표, Process Gx/Gy, Review 좌표로 나뉜다고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8) Review 측정 후 Offset으로 다음 가공을 보정할 수 있다고 마무리합니다.</a:t>
            </a:r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MOF Dark">
  <a:themeElements>
    <a:clrScheme name="MOF">
      <a:dk1>
        <a:srgbClr val="07111F"/>
      </a:dk1>
      <a:lt1>
        <a:srgbClr val="F8FAFC"/>
      </a:lt1>
      <a:dk2>
        <a:srgbClr val="111827"/>
      </a:dk2>
      <a:lt2>
        <a:srgbClr val="E5E7EB"/>
      </a:lt2>
      <a:accent1>
        <a:srgbClr val="22D3EE"/>
      </a:accent1>
      <a:accent2>
        <a:srgbClr val="60A5FA"/>
      </a:accent2>
      <a:accent3>
        <a:srgbClr val="F59E0B"/>
      </a:accent3>
      <a:accent4>
        <a:srgbClr val="F472B6"/>
      </a:accent4>
      <a:accent5>
        <a:srgbClr val="94A3B8"/>
      </a:accent5>
      <a:accent6>
        <a:srgbClr val="FB923C"/>
      </a:accent6>
      <a:hlink>
        <a:srgbClr val="60A5FA"/>
      </a:hlink>
      <a:folHlink>
        <a:srgbClr val="A78BFA"/>
      </a:folHlink>
    </a:clrScheme>
    <a:fontScheme name="Segoe UI">
      <a:majorFont>
        <a:latin typeface="Segoe UI"/>
        <a:ea typeface="Malgun Gothic"/>
      </a:majorFont>
      <a:minorFont>
        <a:latin typeface="Segoe UI"/>
        <a:ea typeface="Malgun Gothic"/>
      </a:minorFont>
    </a:fontScheme>
    <a:fmtScheme name="MOF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